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94960" y="1828800"/>
            <a:ext cx="1371600" cy="25400"/>
          </a:xfrm>
          <a:prstGeom prst="rect">
            <a:avLst/>
          </a:prstGeom>
          <a:solidFill>
            <a:srgbClr val="AF9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4183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5400" b="0">
                <a:solidFill>
                  <a:srgbClr val="F0EAE0"/>
                </a:solidFill>
                <a:latin typeface="Georgia"/>
              </a:rPr>
              <a:t>A Porta ETER</a:t>
            </a:r>
          </a:p>
          <a:p>
            <a:pPr algn="ctr">
              <a:spcAft>
                <a:spcPts val="1600"/>
              </a:spcAft>
            </a:pPr>
            <a:r>
              <a:rPr sz="2200" b="0">
                <a:solidFill>
                  <a:srgbClr val="AF9153"/>
                </a:solidFill>
                <a:latin typeface="Georgia"/>
              </a:rPr>
              <a:t>O mapa do funil: do conteúdo à assinatura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F0EAE0"/>
                </a:solidFill>
                <a:latin typeface="Arial"/>
              </a:rPr>
              <a:t>Qual link é qual, para onde ele leva, e o que acontece em cada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603504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89723C"/>
                </a:solidFill>
                <a:latin typeface="Courier New"/>
              </a:rPr>
              <a:t>eterbrasil.com/revista  ·  24 de 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2377440" cy="384048"/>
          </a:xfrm>
          <a:prstGeom prst="rect">
            <a:avLst/>
          </a:prstGeom>
          <a:solidFill>
            <a:srgbClr val="0F1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0EAE0"/>
                </a:solidFill>
                <a:latin typeface="Arial"/>
              </a:rPr>
              <a:t>O FUNIL NUM OLHAR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190808"/>
                </a:solidFill>
                <a:latin typeface="Georgia"/>
              </a:rPr>
              <a:t>Cinco degraus, sempre nesta ordem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468880"/>
            <a:ext cx="1956816" cy="2103120"/>
          </a:xfrm>
          <a:prstGeom prst="rect">
            <a:avLst/>
          </a:prstGeom>
          <a:solidFill>
            <a:srgbClr val="FFFBF3"/>
          </a:solidFill>
          <a:ln w="12700">
            <a:solidFill>
              <a:srgbClr val="897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90808"/>
                </a:solidFill>
                <a:latin typeface="Arial"/>
              </a:rPr>
              <a:t>CONTEÚDO</a:t>
            </a:r>
          </a:p>
          <a:p>
            <a:pPr algn="ctr"/>
            <a:r>
              <a:rPr sz="1200">
                <a:solidFill>
                  <a:srgbClr val="190808"/>
                </a:solidFill>
                <a:latin typeface="Arial"/>
              </a:rPr>
              <a:t>post · story · direct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87752" y="3063240"/>
            <a:ext cx="457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89723C"/>
                </a:solidFill>
                <a:latin typeface="Arial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2468880"/>
            <a:ext cx="1956816" cy="2103120"/>
          </a:xfrm>
          <a:prstGeom prst="rect">
            <a:avLst/>
          </a:prstGeom>
          <a:solidFill>
            <a:srgbClr val="F0EAE0"/>
          </a:solidFill>
          <a:ln w="12700">
            <a:solidFill>
              <a:srgbClr val="897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90808"/>
                </a:solidFill>
                <a:latin typeface="Arial"/>
              </a:rPr>
              <a:t>PORTA</a:t>
            </a:r>
          </a:p>
          <a:p>
            <a:pPr algn="ctr"/>
            <a:r>
              <a:rPr sz="1200">
                <a:solidFill>
                  <a:srgbClr val="190808"/>
                </a:solidFill>
                <a:latin typeface="Arial"/>
              </a:rPr>
              <a:t>home ou página
da edição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8032" y="3063240"/>
            <a:ext cx="457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89723C"/>
                </a:solidFill>
                <a:latin typeface="Arial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166360" y="2468880"/>
            <a:ext cx="1956816" cy="2103120"/>
          </a:xfrm>
          <a:prstGeom prst="rect">
            <a:avLst/>
          </a:prstGeom>
          <a:solidFill>
            <a:srgbClr val="AF9153"/>
          </a:solidFill>
          <a:ln w="12700">
            <a:solidFill>
              <a:srgbClr val="897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90808"/>
                </a:solidFill>
                <a:latin typeface="Arial"/>
              </a:rPr>
              <a:t>CADASTRO</a:t>
            </a:r>
          </a:p>
          <a:p>
            <a:pPr algn="ctr"/>
            <a:r>
              <a:rPr sz="1200">
                <a:solidFill>
                  <a:srgbClr val="190808"/>
                </a:solidFill>
                <a:latin typeface="Arial"/>
              </a:rPr>
              <a:t>nome, e-mail
e WhatsApp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68312" y="3063240"/>
            <a:ext cx="457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89723C"/>
                </a:solidFill>
                <a:latin typeface="Arial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2468880"/>
            <a:ext cx="1956816" cy="2103120"/>
          </a:xfrm>
          <a:prstGeom prst="rect">
            <a:avLst/>
          </a:prstGeom>
          <a:solidFill>
            <a:srgbClr val="0F1F18"/>
          </a:solidFill>
          <a:ln w="12700">
            <a:solidFill>
              <a:srgbClr val="897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0EAE0"/>
                </a:solidFill>
                <a:latin typeface="Arial"/>
              </a:rPr>
              <a:t>PASSE — R$97</a:t>
            </a:r>
          </a:p>
          <a:p>
            <a:pPr algn="ctr"/>
            <a:r>
              <a:rPr sz="1200">
                <a:solidFill>
                  <a:srgbClr val="F0EAE0"/>
                </a:solidFill>
                <a:latin typeface="Arial"/>
              </a:rPr>
              <a:t>30 dias com
tudo aberto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08592" y="3063240"/>
            <a:ext cx="457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89723C"/>
                </a:solidFill>
                <a:latin typeface="Arial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46920" y="2468880"/>
            <a:ext cx="1956816" cy="2103120"/>
          </a:xfrm>
          <a:prstGeom prst="rect">
            <a:avLst/>
          </a:prstGeom>
          <a:solidFill>
            <a:srgbClr val="190808"/>
          </a:solidFill>
          <a:ln w="12700">
            <a:solidFill>
              <a:srgbClr val="897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AF9153"/>
                </a:solidFill>
                <a:latin typeface="Arial"/>
              </a:rPr>
              <a:t>ANUAL — R$897</a:t>
            </a:r>
          </a:p>
          <a:p>
            <a:pPr algn="ctr"/>
            <a:r>
              <a:rPr sz="1200">
                <a:solidFill>
                  <a:srgbClr val="AF9153"/>
                </a:solidFill>
                <a:latin typeface="Arial"/>
              </a:rPr>
              <a:t>comunidade
+ ano inteiro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206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A5044"/>
                </a:solidFill>
                <a:latin typeface="Arial"/>
              </a:rPr>
              <a:t>Cada link publicado carrega o RASTRO (utm + embaixador), e o rastro atravessa todos os degraus até o pagamento.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5A5044"/>
                </a:solidFill>
                <a:latin typeface="Arial"/>
              </a:rPr>
              <a:t>É assim que sabemos qual post gerou qual lead e qual venda — desde que ninguém invente link fora do molde.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2377440" cy="384048"/>
          </a:xfrm>
          <a:prstGeom prst="rect">
            <a:avLst/>
          </a:prstGeom>
          <a:solidFill>
            <a:srgbClr val="0F1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0EAE0"/>
                </a:solidFill>
                <a:latin typeface="Arial"/>
              </a:rPr>
              <a:t>DEGRAU 1 · CONTEÚDO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190808"/>
                </a:solidFill>
                <a:latin typeface="Georgia"/>
              </a:rPr>
              <a:t>Três origens, três links diferentes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89723C"/>
                </a:solidFill>
                <a:latin typeface="Arial"/>
              </a:rPr>
              <a:t>BIO (link fixo do perfil)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128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5044"/>
                </a:solidFill>
                <a:latin typeface="Arial"/>
              </a:rPr>
              <a:t>Tráfego frio: a pessoa nunca falou com a gente. Vai para a HOME e vê o formulário normalmente.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743200"/>
            <a:ext cx="10789920" cy="475488"/>
          </a:xfrm>
          <a:prstGeom prst="rect">
            <a:avLst/>
          </a:prstGeom>
          <a:solidFill>
            <a:srgbClr val="19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/>
            <a:r>
              <a:rPr sz="1200">
                <a:solidFill>
                  <a:srgbClr val="AF9153"/>
                </a:solidFill>
                <a:latin typeface="Courier New"/>
              </a:rPr>
              <a:t>eterbrasil.com/revista/?utm_source=perfil-eter&amp;utm_medium=bio&amp;utm_campaign=geral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564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89723C"/>
                </a:solidFill>
                <a:latin typeface="Arial"/>
              </a:rPr>
              <a:t>MANYCHAT (entrega no direct)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40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5044"/>
                </a:solidFill>
                <a:latin typeface="Arial"/>
              </a:rPr>
              <a:t>A pessoa JÁ se cadastrou no ManyChat. O c=1 no link faz ela pular o formulário — nunca use c=1 fora do ManyChat.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370832"/>
            <a:ext cx="10789920" cy="475488"/>
          </a:xfrm>
          <a:prstGeom prst="rect">
            <a:avLst/>
          </a:prstGeom>
          <a:solidFill>
            <a:srgbClr val="19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/>
            <a:r>
              <a:rPr sz="1200">
                <a:solidFill>
                  <a:srgbClr val="AF9153"/>
                </a:solidFill>
                <a:latin typeface="Courier New"/>
              </a:rPr>
              <a:t>eterbrasil.com/revista/?c=1&amp;utm_source=perfil-eter&amp;utm_medium=manychat&amp;utm_campaign=geral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8406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89723C"/>
                </a:solidFill>
                <a:latin typeface="Arial"/>
              </a:rPr>
              <a:t>EMBAIXADOR (perfil de terceiro)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468112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5044"/>
                </a:solidFill>
                <a:latin typeface="Arial"/>
              </a:rPr>
              <a:t>O j=codigo identifica quem indicou. Qualquer código serve, sem configurar nada: j=rodrigo, j=maria…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5998464"/>
            <a:ext cx="10789920" cy="475488"/>
          </a:xfrm>
          <a:prstGeom prst="rect">
            <a:avLst/>
          </a:prstGeom>
          <a:solidFill>
            <a:srgbClr val="19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/>
            <a:r>
              <a:rPr sz="1200">
                <a:solidFill>
                  <a:srgbClr val="AF9153"/>
                </a:solidFill>
                <a:latin typeface="Courier New"/>
              </a:rPr>
              <a:t>eterbrasil.com/revista/NNN/?j=CODIGO&amp;utm_source=embaixador&amp;utm_medium=organico&amp;utm_campaign=edNNN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00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5044"/>
                </a:solidFill>
                <a:latin typeface="Arial"/>
              </a:rPr>
              <a:t>Perfil do Davi: troque perfil-eter por perfil-davi. O resto não muda.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2377440" cy="384048"/>
          </a:xfrm>
          <a:prstGeom prst="rect">
            <a:avLst/>
          </a:prstGeom>
          <a:solidFill>
            <a:srgbClr val="0F1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0EAE0"/>
                </a:solidFill>
                <a:latin typeface="Arial"/>
              </a:rPr>
              <a:t>DEGRAU 2 · PORTA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190808"/>
                </a:solidFill>
                <a:latin typeface="Georgia"/>
              </a:rPr>
              <a:t>Post geral cai na home. Post de edição cai NA edição.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20240"/>
            <a:ext cx="5212080" cy="3566160"/>
          </a:xfrm>
          <a:prstGeom prst="rect">
            <a:avLst/>
          </a:prstGeom>
          <a:solidFill>
            <a:srgbClr val="F0EAE0"/>
          </a:solidFill>
          <a:ln w="12700">
            <a:solidFill>
              <a:srgbClr val="897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46634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89723C"/>
                </a:solidFill>
                <a:latin typeface="Arial"/>
              </a:rPr>
              <a:t>POST GERAL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90808"/>
                </a:solidFill>
                <a:latin typeface="Arial"/>
              </a:rPr>
              <a:t>Sobre a ETER, a revista, o movimento — sem falar de uma edição específica.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190808"/>
                </a:solidFill>
                <a:latin typeface="Arial"/>
              </a:rPr>
              <a:t>→ HOME, com a estante das 9 capas.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5044"/>
                </a:solidFill>
                <a:latin typeface="Arial"/>
              </a:rPr>
              <a:t>ManyChat geral: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F1F18"/>
                </a:solidFill>
                <a:latin typeface="Courier New"/>
              </a:rPr>
              <a:t>…/revista/?c=1&amp;utm_campaign=geral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920240"/>
            <a:ext cx="5212080" cy="3566160"/>
          </a:xfrm>
          <a:prstGeom prst="rect">
            <a:avLst/>
          </a:prstGeom>
          <a:solidFill>
            <a:srgbClr val="0F1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148840"/>
            <a:ext cx="46634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AF9153"/>
                </a:solidFill>
                <a:latin typeface="Arial"/>
              </a:rPr>
              <a:t>POST DE EDIÇÃO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F0EAE0"/>
                </a:solidFill>
                <a:latin typeface="Arial"/>
              </a:rPr>
              <a:t>Sobre O Futuro Simples, o Baile de Máscaras… O link entrega a pessoa DENTRO da edição do post.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0EAE0"/>
                </a:solidFill>
                <a:latin typeface="Arial"/>
              </a:rPr>
              <a:t>→ /revista/NNN (001 a 009)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AF9153"/>
                </a:solidFill>
                <a:latin typeface="Arial"/>
              </a:rPr>
              <a:t>ManyChat da edição: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0EAE0"/>
                </a:solidFill>
                <a:latin typeface="Courier New"/>
              </a:rPr>
              <a:t>…/revista/009/?c=1&amp;utm_campaign=ed009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5044"/>
                </a:solidFill>
                <a:latin typeface="Arial"/>
              </a:rPr>
              <a:t>A regra de ouro: a utm_campaign SEMPRE diz a edição (ed001…ed009) ou 'geral'. É ela que separa, na planilha, qual conteúdo trouxe cada lead.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2377440" cy="384048"/>
          </a:xfrm>
          <a:prstGeom prst="rect">
            <a:avLst/>
          </a:prstGeom>
          <a:solidFill>
            <a:srgbClr val="0F1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0EAE0"/>
                </a:solidFill>
                <a:latin typeface="Arial"/>
              </a:rPr>
              <a:t>DEGRAU 3 · CADASTRO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190808"/>
                </a:solidFill>
                <a:latin typeface="Georgia"/>
              </a:rPr>
              <a:t>A leitura é gratuita, mas é cadastrada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7899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90808"/>
                </a:solidFill>
                <a:latin typeface="Arial"/>
              </a:rPr>
              <a:t>Na página da edição, a revista folheia sozinha até o cadeado. Clicou em LER — ou no cadeado — sobe o popup: nome, e-mail e WhatsApp.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90808"/>
                </a:solidFill>
                <a:latin typeface="Arial"/>
              </a:rPr>
              <a:t>Cadastrou → a edição abre INTEIRA, na hora, em alta definição (zoom livre, arrasta para os lados).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90808"/>
                </a:solidFill>
                <a:latin typeface="Arial"/>
              </a:rPr>
              <a:t>A regra do porteiro: 1 edição gratuita a cada 30 dias por pessoa. Quem volta antes vê duas saídas: esperar, ou abrir tudo com o passe.</a:t>
            </a:r>
          </a:p>
          <a:p>
            <a:pPr algn="l">
              <a:spcAft>
                <a:spcPts val="0"/>
              </a:spcAft>
            </a:pPr>
            <a:r>
              <a:rPr sz="1600" b="1">
                <a:solidFill>
                  <a:srgbClr val="89723C"/>
                </a:solidFill>
                <a:latin typeface="Arial"/>
              </a:rPr>
              <a:t>Quem veio do ManyChat (c=1) não vê o formulário — já se cadastrou no direct.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846320"/>
            <a:ext cx="10789920" cy="1371600"/>
          </a:xfrm>
          <a:prstGeom prst="rect">
            <a:avLst/>
          </a:prstGeom>
          <a:solidFill>
            <a:srgbClr val="F0EAE0"/>
          </a:solidFill>
          <a:ln w="12700">
            <a:solidFill>
              <a:srgbClr val="897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029200"/>
            <a:ext cx="10241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89723C"/>
                </a:solidFill>
                <a:latin typeface="Arial"/>
              </a:rPr>
              <a:t>ONDE O LEAD CAI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90808"/>
                </a:solidFill>
                <a:latin typeface="Arial"/>
              </a:rPr>
              <a:t>Planilha “Leads Funil Passe | Clusterizado” — com edição, cluster de origem, utm, página em que parou e o código do embaixador (coluna jornaleiro).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2377440" cy="384048"/>
          </a:xfrm>
          <a:prstGeom prst="rect">
            <a:avLst/>
          </a:prstGeom>
          <a:solidFill>
            <a:srgbClr val="AF9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90808"/>
                </a:solidFill>
                <a:latin typeface="Arial"/>
              </a:rPr>
              <a:t>DEGRAU 4 · O PASSE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F0EAE0"/>
                </a:solidFill>
                <a:latin typeface="Georgia"/>
              </a:rPr>
              <a:t>R$97 · 30 dias com a ETER inteira aberta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AF9153"/>
                </a:solidFill>
                <a:latin typeface="Arial"/>
              </a:rPr>
              <a:t>1 · A OFERTA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965960"/>
            <a:ext cx="8321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0EAE0"/>
                </a:solidFill>
                <a:latin typeface="Arial"/>
              </a:rPr>
              <a:t>Clicou em ADQUIRIR O PASSE (qualquer página) → sobe o popup com o mockup, os 3 entregáveis e o preço.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175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AF9153"/>
                </a:solidFill>
                <a:latin typeface="Arial"/>
              </a:rPr>
              <a:t>2 · O CADASTRO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3017520"/>
            <a:ext cx="8321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0EAE0"/>
                </a:solidFill>
                <a:latin typeface="Arial"/>
              </a:rPr>
              <a:t>Botão do popup → formulário nome, e-mail e WhatsApp. O lead grava ANTES do pagamento: quem abandona o checkout vira público de recuperação.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690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AF9153"/>
                </a:solidFill>
                <a:latin typeface="Arial"/>
              </a:rPr>
              <a:t>3 · O CHECKOUT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4069080"/>
            <a:ext cx="8321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0EAE0"/>
                </a:solidFill>
                <a:latin typeface="Arial"/>
              </a:rPr>
              <a:t>clkdmg.site/pay/passe-de-30-dias — a URL chega com src (página), sck (botão + embaixador) e os utm do post.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212080"/>
            <a:ext cx="10789920" cy="1097280"/>
          </a:xfrm>
          <a:prstGeom prst="rect">
            <a:avLst/>
          </a:prstGeom>
          <a:solidFill>
            <a:srgbClr val="19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76672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AF9153"/>
                </a:solidFill>
                <a:latin typeface="Arial"/>
              </a:rPr>
              <a:t>O QUE O PASSE ENTREGA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0EAE0"/>
                </a:solidFill>
                <a:latin typeface="Arial"/>
              </a:rPr>
              <a:t>Uma edição nova toda semana · o acervo completo · encontros semanais ao vivo.  (Comunidade e WhatsApp NÃO — são do anual.)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2377440" cy="384048"/>
          </a:xfrm>
          <a:prstGeom prst="rect">
            <a:avLst/>
          </a:prstGeom>
          <a:solidFill>
            <a:srgbClr val="0F1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0EAE0"/>
                </a:solidFill>
                <a:latin typeface="Arial"/>
              </a:rPr>
              <a:t>DEGRAU 5 · O 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190808"/>
                </a:solidFill>
                <a:latin typeface="Georgia"/>
              </a:rPr>
              <a:t>Depois de pagar, e só depois: o 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789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90808"/>
                </a:solidFill>
                <a:latin typeface="Arial"/>
              </a:rPr>
              <a:t>Quem paga o passe cai em /revista/obrigado → a página do anual: R$897 à vista (ou 12× de R$87,90), contra R$997 cheio.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190808"/>
                </a:solidFill>
                <a:latin typeface="Arial"/>
              </a:rPr>
              <a:t>Checkout de 1 clique: clkdmg.site/subscribe/eter-upsell/1click. O acesso mora no Curseduca.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566160"/>
            <a:ext cx="10789920" cy="2377440"/>
          </a:xfrm>
          <a:prstGeom prst="rect">
            <a:avLst/>
          </a:prstGeom>
          <a:solidFill>
            <a:srgbClr val="0F1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749039"/>
            <a:ext cx="102412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AF9153"/>
                </a:solidFill>
                <a:latin typeface="Arial"/>
              </a:rPr>
              <a:t>O QUE SÓ O ANUAL TEM — o argumento da conversa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0EAE0"/>
                </a:solidFill>
                <a:latin typeface="Arial"/>
              </a:rPr>
              <a:t>Comunidade Vanguarda (plataforma fechada)  ·  Grupo de membros no WhatsApp  ·  Biblioteca de ferramentas  ·  Curadoria de pautas  ·  Vanguard.IA 24/7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AF9153"/>
                </a:solidFill>
                <a:latin typeface="Georgia"/>
              </a:rPr>
              <a:t>O passe dá a revista. O anual dá a casa.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2377440" cy="384048"/>
          </a:xfrm>
          <a:prstGeom prst="rect">
            <a:avLst/>
          </a:prstGeom>
          <a:solidFill>
            <a:srgbClr val="0F1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0EAE0"/>
                </a:solidFill>
                <a:latin typeface="Arial"/>
              </a:rPr>
              <a:t>A COLA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190808"/>
                </a:solidFill>
                <a:latin typeface="Georgia"/>
              </a:rPr>
              <a:t>“Vou postar X — qual link eu uso?”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90808"/>
                </a:solidFill>
                <a:latin typeface="Arial"/>
              </a:rPr>
              <a:t>Link da bio (fixo)</a:t>
            </a:r>
          </a:p>
        </p:txBody>
      </p:sp>
      <p:sp>
        <p:nvSpPr>
          <p:cNvPr id="5" name="Rectangle 4"/>
          <p:cNvSpPr/>
          <p:nvPr/>
        </p:nvSpPr>
        <p:spPr>
          <a:xfrm>
            <a:off x="4069080" y="1965960"/>
            <a:ext cx="7406640" cy="475488"/>
          </a:xfrm>
          <a:prstGeom prst="rect">
            <a:avLst/>
          </a:prstGeom>
          <a:solidFill>
            <a:srgbClr val="19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/>
            <a:r>
              <a:rPr sz="1100">
                <a:solidFill>
                  <a:srgbClr val="AF9153"/>
                </a:solidFill>
                <a:latin typeface="Courier New"/>
              </a:rPr>
              <a:t>…/revista/?utm_source=perfil-eter&amp;utm_medium=bio&amp;utm_campaign=geral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2491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90808"/>
                </a:solidFill>
                <a:latin typeface="Arial"/>
              </a:rPr>
              <a:t>ManyChat de post geral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80" y="2679192"/>
            <a:ext cx="7406640" cy="475488"/>
          </a:xfrm>
          <a:prstGeom prst="rect">
            <a:avLst/>
          </a:prstGeom>
          <a:solidFill>
            <a:srgbClr val="19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/>
            <a:r>
              <a:rPr sz="1100">
                <a:solidFill>
                  <a:srgbClr val="AF9153"/>
                </a:solidFill>
                <a:latin typeface="Courier New"/>
              </a:rPr>
              <a:t>…/revista/?c=1&amp;utm_source=perfil-eter&amp;utm_medium=manychat&amp;utm_campaign=geral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3814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90808"/>
                </a:solidFill>
                <a:latin typeface="Arial"/>
              </a:rPr>
              <a:t>ManyChat de post da ED009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3392424"/>
            <a:ext cx="7406640" cy="475488"/>
          </a:xfrm>
          <a:prstGeom prst="rect">
            <a:avLst/>
          </a:prstGeom>
          <a:solidFill>
            <a:srgbClr val="19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/>
            <a:r>
              <a:rPr sz="1100">
                <a:solidFill>
                  <a:srgbClr val="AF9153"/>
                </a:solidFill>
                <a:latin typeface="Courier New"/>
              </a:rPr>
              <a:t>…/revista/009/?c=1&amp;utm_source=perfil-eter&amp;utm_medium=manychat&amp;utm_campaign=ed009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51376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90808"/>
                </a:solidFill>
                <a:latin typeface="Arial"/>
              </a:rPr>
              <a:t>Story com link direto da ED007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4105656"/>
            <a:ext cx="7406640" cy="475488"/>
          </a:xfrm>
          <a:prstGeom prst="rect">
            <a:avLst/>
          </a:prstGeom>
          <a:solidFill>
            <a:srgbClr val="19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/>
            <a:r>
              <a:rPr sz="1100">
                <a:solidFill>
                  <a:srgbClr val="AF9153"/>
                </a:solidFill>
                <a:latin typeface="Courier New"/>
              </a:rPr>
              <a:t>…/revista/007/?utm_source=perfil-eter&amp;utm_medium=bio&amp;utm_campaign=ed007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86460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90808"/>
                </a:solidFill>
                <a:latin typeface="Arial"/>
              </a:rPr>
              <a:t>Embaixador Rodrigo, ED004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4818888"/>
            <a:ext cx="7406640" cy="475488"/>
          </a:xfrm>
          <a:prstGeom prst="rect">
            <a:avLst/>
          </a:prstGeom>
          <a:solidFill>
            <a:srgbClr val="19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/>
            <a:r>
              <a:rPr sz="1100">
                <a:solidFill>
                  <a:srgbClr val="AF9153"/>
                </a:solidFill>
                <a:latin typeface="Courier New"/>
              </a:rPr>
              <a:t>…/revista/004/?j=rodrigo&amp;utm_source=embaixador&amp;utm_medium=organico&amp;utm_campaign=ed004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76072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5044"/>
                </a:solidFill>
                <a:latin typeface="Arial"/>
              </a:rPr>
              <a:t>Post do perfil do Davi? perfil-eter → perfil-davi.  Outra edição? Troque o número e a campanha juntos (009 + ed009).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A5044"/>
                </a:solidFill>
                <a:latin typeface="Arial"/>
              </a:rPr>
              <a:t>O molde completo, com todas as edições, está no Doc “Porta ETER — Árvore de Links do Funil”.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051560"/>
            <a:ext cx="1097280" cy="25400"/>
          </a:xfrm>
          <a:prstGeom prst="rect">
            <a:avLst/>
          </a:prstGeom>
          <a:solidFill>
            <a:srgbClr val="AF9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F0EAE0"/>
                </a:solidFill>
                <a:latin typeface="Georgia"/>
              </a:rPr>
              <a:t>Três coisas que quebram o funil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AF9153"/>
                </a:solidFill>
                <a:latin typeface="Arial"/>
              </a:rPr>
              <a:t>✕  c=1 fora do ManyChat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0EAE0"/>
                </a:solidFill>
                <a:latin typeface="Arial"/>
              </a:rPr>
              <a:t>O c=1 pula o cadastro. Num link público, todo mundo lê sem virar lead — e o funil para de gerar contato.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118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AF9153"/>
                </a:solidFill>
                <a:latin typeface="Arial"/>
              </a:rPr>
              <a:t>✕  Link sem utm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0EAE0"/>
                </a:solidFill>
                <a:latin typeface="Arial"/>
              </a:rPr>
              <a:t>O clique chega “sem sobrenome”: o lead cai na planilha órfão e ninguém sabe qual conteúdo o trouxe.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84632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AF9153"/>
                </a:solidFill>
                <a:latin typeface="Arial"/>
              </a:rPr>
              <a:t>✕  Inventar variação fora do molde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0EAE0"/>
                </a:solidFill>
                <a:latin typeface="Arial"/>
              </a:rPr>
              <a:t>utm_campaign=edicao9, utm_source=insta… cada grafia nova vira uma linha separada no relatório, e o cluster quebra.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